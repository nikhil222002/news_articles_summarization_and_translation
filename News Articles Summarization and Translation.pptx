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9" r:id="rId7"/>
    <p:sldId id="271" r:id="rId8"/>
    <p:sldId id="268" r:id="rId9"/>
    <p:sldId id="260" r:id="rId10"/>
    <p:sldId id="272" r:id="rId11"/>
    <p:sldId id="261" r:id="rId12"/>
    <p:sldId id="267" r:id="rId13"/>
    <p:sldId id="270" r:id="rId14"/>
    <p:sldId id="262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4" r:id="rId23"/>
    <p:sldId id="283" r:id="rId24"/>
    <p:sldId id="280" r:id="rId25"/>
    <p:sldId id="279" r:id="rId26"/>
    <p:sldId id="264" r:id="rId27"/>
    <p:sldId id="281" r:id="rId28"/>
    <p:sldId id="2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9434-A143-3273-77BB-398AE50B4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0BA45-0689-8B8B-518B-DDFAE5C49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A1BBC-EAEE-213C-4882-D23EDCD0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0955-32B6-5F69-ABE5-EC0AC6498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CD2F9-C40B-C7A3-D598-2F1B1469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9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47FF-FF38-1303-7A19-1C4E3EEE9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2DC71-0D2C-8754-534B-4D379477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C9662-5B53-D3F0-0488-143D096D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E386-4F5C-044B-4102-B2E2B96A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BA34D-CA23-9683-A7FB-680B78DC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0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571B-B18C-E670-691F-392C9083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B10F-2E2E-E593-C4F9-548FAD836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BD5BE-D8C1-C28C-148F-F144EE2C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AB36-70CD-A404-EFDB-B86C3459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C80EE-21DD-A415-DF1A-BE6CDC91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5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A63E-6C00-B5FA-6462-5849EDC8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C109-B577-374D-B929-92661EFD2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2264E-2099-9F1E-E7E2-DCF5E9C70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DD5D4-D56D-8428-868A-C4F411E1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F33C3-4606-2C4B-BB46-B69DFE5D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E3530-620D-38B5-25CB-5BD78A6F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5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7653-FA21-5270-0148-BD1E6546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19741-8230-F748-C7D1-C9CF8D6A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DF191-BB4C-75CA-F18C-B899D39D8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2F537-D03E-A26C-B7CA-4BDA52A40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02A60-F571-8EFA-DFE0-42CD35405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61273-DE5B-2E5E-4209-84816B82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E124E-AFDF-8D8F-BF14-E118E831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156A1-55E4-8803-2995-6B411659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30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9EDA-9C85-7840-51C9-F4BB26F7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71DB6-6FCE-9972-B7BB-C34995B7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96004-FAB5-DA0F-0960-E8CD03CF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800FD-F177-C88C-79AE-37E37980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6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C1462-0F88-CEA0-0B38-CE417B27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2916A-B58E-9430-848B-5ECACBE4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29D16-4D7F-E013-DBA6-917040D5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1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2AE1-97D3-6E9F-3143-5AFA77C0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EBB86-E44F-651C-FD48-C0429479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D7D0E-40A1-04F9-4C12-93A96E702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F0337-E6BC-7029-A9A2-E5A5462C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DB110-0489-6A0E-E623-B99D492A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1A5E-FB5A-E911-6F3A-E93D421A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1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5651-44C5-669A-4FF3-2019027C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3C0A8-53E2-B0B1-BA57-486051796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06811-4006-20A8-F721-CC3C5EBA8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58DBA-6CF4-3D5D-E957-037E2A67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927B4-2AC5-BD52-FFC9-62790516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ACFB1-4E21-6331-1D30-80B77442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6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17C5-2F25-DFAE-54DA-75A3566C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75703-7B65-AC2A-B2AA-AE679A33D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B77C-F4D8-EF85-8D40-1BDA824D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EEA6-EF2E-8CAD-ACA7-A5071B70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D9785-587D-BAA7-58E6-09BB6F13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6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18C75D-8399-4857-AA0F-58607C121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D4C43-6795-00C5-FDF7-761CCB3DD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90EB6-EFF4-1BD7-C062-F14673F0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D9DFD-C94B-F5EE-3E90-416C3882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76BC5-2762-3A8A-CFA0-93EA2F04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9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E9D52E-2AF9-736D-4F80-FE60039C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BED90-3808-F378-DBD7-65A9E6BF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129-6F68-40F6-CD06-9EA3EBFF6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C6CBA-A7D3-49CE-8EFA-17F70524E408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CF70-FC19-DA8A-F3CD-02E00C923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41A50-CE45-350B-6E8F-87D090E3B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A0B42-DA7B-475A-8516-9EC97EEA4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0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s.nyu.edu/~kcho/DMQ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understanding-tf-idf-term-frequency-inverse-document-frequency/" TargetMode="External"/><Relationship Id="rId2" Type="http://schemas.openxmlformats.org/officeDocument/2006/relationships/hyperlink" Target="https://pypi.org/project/deep-translat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eecodecamp.org/news/what-is-rouge-and-how-it-works-for-evaluation-of-summaries-e059fb8ac84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365D4-3AA0-B17A-B348-15E017BCB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1747"/>
            <a:ext cx="9144000" cy="255219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/>
              <a:t>News Articles Summarization and Translation</a:t>
            </a:r>
            <a:br>
              <a:rPr lang="en-US" dirty="0"/>
            </a:br>
            <a:r>
              <a:rPr lang="en-US" sz="3600" b="1" dirty="0"/>
              <a:t>Group 8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D00AE-83FC-9DFB-E9E0-29B3E3D94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1717" y="3526971"/>
            <a:ext cx="3689684" cy="231038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/>
              <a:t>Members:</a:t>
            </a:r>
          </a:p>
          <a:p>
            <a:pPr algn="l"/>
            <a:r>
              <a:rPr lang="en-US" dirty="0"/>
              <a:t>Lokesh Borra </a:t>
            </a:r>
          </a:p>
          <a:p>
            <a:pPr algn="l"/>
            <a:r>
              <a:rPr lang="en-US" dirty="0"/>
              <a:t>Nikhil Kuchipudi </a:t>
            </a:r>
          </a:p>
          <a:p>
            <a:pPr algn="l"/>
            <a:r>
              <a:rPr lang="en-US" dirty="0"/>
              <a:t>Puneet </a:t>
            </a:r>
            <a:r>
              <a:rPr lang="en-US" dirty="0" err="1"/>
              <a:t>Puttu</a:t>
            </a:r>
            <a:r>
              <a:rPr lang="en-US" dirty="0"/>
              <a:t> </a:t>
            </a:r>
          </a:p>
          <a:p>
            <a:pPr algn="l"/>
            <a:r>
              <a:rPr lang="en-US" dirty="0" err="1"/>
              <a:t>Srilekha</a:t>
            </a:r>
            <a:r>
              <a:rPr lang="en-US" dirty="0"/>
              <a:t> </a:t>
            </a:r>
            <a:r>
              <a:rPr lang="en-US" dirty="0" err="1"/>
              <a:t>Sridasyam</a:t>
            </a:r>
            <a:r>
              <a:rPr lang="en-US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E64A1D-6FEF-4A90-7294-1C138392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375710"/>
            <a:ext cx="4913376" cy="24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0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34E8-7B68-3CA6-4CB8-961C5F13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3321-5D48-03C2-2E9C-E7475833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This project focuses on processing CNN articles and generate clear summaries and extract key points.</a:t>
            </a:r>
          </a:p>
          <a:p>
            <a:r>
              <a:rPr lang="en-US"/>
              <a:t>The summary generated can then be translated to Spanish, Chinese and Hindi by default and it can also translate to any other language that the user provides.</a:t>
            </a:r>
          </a:p>
          <a:p>
            <a:r>
              <a:rPr lang="en-US"/>
              <a:t>The connection between summarization and Translation saves the readers time makes the article accessible across multiple languages.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9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C73F-58C2-0281-F464-B9E899C6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72B9-D644-1790-E17C-3BDE7D5E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number of things that are happening around the world everyday, there is a need for automated summarization to quickly cover all the news.</a:t>
            </a:r>
          </a:p>
          <a:p>
            <a:r>
              <a:rPr lang="en-US" dirty="0"/>
              <a:t>Additionally, translating the news into multiple languages allows people to cover global news and keep themselves updated on geopolitical events.</a:t>
            </a:r>
          </a:p>
          <a:p>
            <a:r>
              <a:rPr lang="en-US" dirty="0"/>
              <a:t>Our hypothesis is that advanced models like BART and T5 can be used for achieving summaries with higher accuracies and models like  </a:t>
            </a:r>
            <a:r>
              <a:rPr lang="en-US" dirty="0" err="1"/>
              <a:t>GoogleTranslator</a:t>
            </a:r>
            <a:r>
              <a:rPr lang="en-US" dirty="0"/>
              <a:t> can be used to achieve high-quality translations </a:t>
            </a:r>
          </a:p>
        </p:txBody>
      </p:sp>
    </p:spTree>
    <p:extLst>
      <p:ext uri="{BB962C8B-B14F-4D97-AF65-F5344CB8AC3E}">
        <p14:creationId xmlns:p14="http://schemas.microsoft.com/office/powerpoint/2010/main" val="252815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5BC9-D4D5-745C-D5B4-AA07188F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5CDAA-7E2D-9F2C-6B13-BE5A0218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411" y="1690688"/>
            <a:ext cx="9176083" cy="4667250"/>
          </a:xfrm>
        </p:spPr>
      </p:pic>
    </p:spTree>
    <p:extLst>
      <p:ext uri="{BB962C8B-B14F-4D97-AF65-F5344CB8AC3E}">
        <p14:creationId xmlns:p14="http://schemas.microsoft.com/office/powerpoint/2010/main" val="80011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8955-F6FE-5293-0951-691DEAEA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-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9BEB4-56AE-9D1C-D7E7-7C07010C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consists of CNN articles </a:t>
            </a:r>
          </a:p>
          <a:p>
            <a:r>
              <a:rPr lang="en-US" dirty="0"/>
              <a:t>Each individual article can be considered a training data point for the model.</a:t>
            </a:r>
          </a:p>
          <a:p>
            <a:r>
              <a:rPr lang="en-US" dirty="0"/>
              <a:t>Articles have highlights in the end which basically tells us the highlights of the entire article</a:t>
            </a:r>
          </a:p>
          <a:p>
            <a:r>
              <a:rPr lang="en-US" dirty="0"/>
              <a:t>We need to remove them and store them in a separate variable so that it can be used to calculate Rouge scores.</a:t>
            </a:r>
          </a:p>
          <a:p>
            <a:r>
              <a:rPr lang="en-US" dirty="0"/>
              <a:t>This step serves as the preprocessing of our project</a:t>
            </a:r>
          </a:p>
        </p:txBody>
      </p:sp>
    </p:spTree>
    <p:extLst>
      <p:ext uri="{BB962C8B-B14F-4D97-AF65-F5344CB8AC3E}">
        <p14:creationId xmlns:p14="http://schemas.microsoft.com/office/powerpoint/2010/main" val="283605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326D-9D41-2183-DF18-88254E4B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- Summarization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71F6-BEAA-3A23-CF3B-DFE26FA5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used BART and T5 models for summarization.</a:t>
            </a:r>
          </a:p>
          <a:p>
            <a:r>
              <a:rPr lang="en-US" dirty="0"/>
              <a:t>BART is a denoising autoencoder which can be used for sequence-sequence models.</a:t>
            </a:r>
          </a:p>
          <a:p>
            <a:r>
              <a:rPr lang="en-US" dirty="0"/>
              <a:t>T5 is a framework for text-to-text tasks which is pre-trained on a massive dataset of text and code. It has a transformer-based architecture which can be used for variety of NLP tasks.</a:t>
            </a:r>
          </a:p>
          <a:p>
            <a:r>
              <a:rPr lang="en-US" dirty="0"/>
              <a:t>In our cased we used both these models to summarize our article just to compare which one works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46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FD7F-3284-EB6E-AFFF-256D9184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- Important Points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5AC3B-4D3F-FB9D-7AA5-168556EC4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used Term Frequency – Inverse Document Frequency technique to measure the importance if words in our entire article.</a:t>
            </a:r>
          </a:p>
          <a:p>
            <a:r>
              <a:rPr lang="en-US" dirty="0"/>
              <a:t>We used this finding to get the sentences that are very important in the article.</a:t>
            </a:r>
          </a:p>
        </p:txBody>
      </p:sp>
    </p:spTree>
    <p:extLst>
      <p:ext uri="{BB962C8B-B14F-4D97-AF65-F5344CB8AC3E}">
        <p14:creationId xmlns:p14="http://schemas.microsoft.com/office/powerpoint/2010/main" val="100344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326D-9D41-2183-DF18-88254E4B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Workflow -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71F6-BEAA-3A23-CF3B-DFE26FA5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translation, we used Google Translate machine translation which is a pre-trained deep learning model which can capture complex contextual dependencies.</a:t>
            </a:r>
          </a:p>
        </p:txBody>
      </p:sp>
    </p:spTree>
    <p:extLst>
      <p:ext uri="{BB962C8B-B14F-4D97-AF65-F5344CB8AC3E}">
        <p14:creationId xmlns:p14="http://schemas.microsoft.com/office/powerpoint/2010/main" val="583969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A0EA-FA4F-6CDD-D8D5-D5BFE662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E627-9D6D-0F73-CBC2-F0CFBAD15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we used for this project is CNN Stories dataset which has a lot of CNN news articles.</a:t>
            </a:r>
          </a:p>
          <a:p>
            <a:r>
              <a:rPr lang="en-US" dirty="0"/>
              <a:t>Each article has a Journalists’ words and other people’s exact same words in quotation marks.</a:t>
            </a:r>
          </a:p>
          <a:p>
            <a:r>
              <a:rPr lang="en-US" dirty="0"/>
              <a:t>For our project we can take any one of the articles which we summarize and then translate.</a:t>
            </a:r>
          </a:p>
          <a:p>
            <a:r>
              <a:rPr lang="en-US" dirty="0"/>
              <a:t>In the end we have highlight points which we used for evaluating generating summaries using Rouge Scores. </a:t>
            </a:r>
          </a:p>
          <a:p>
            <a:r>
              <a:rPr lang="en-US" dirty="0">
                <a:hlinkClick r:id="rId2"/>
              </a:rPr>
              <a:t>Link for CNN Stories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73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A0EA-FA4F-6CDD-D8D5-D5BFE662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Dataset Picture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64AF74-FC15-5787-2C36-DB7D89A45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25625"/>
            <a:ext cx="9144000" cy="4351338"/>
          </a:xfrm>
        </p:spPr>
      </p:pic>
    </p:spTree>
    <p:extLst>
      <p:ext uri="{BB962C8B-B14F-4D97-AF65-F5344CB8AC3E}">
        <p14:creationId xmlns:p14="http://schemas.microsoft.com/office/powerpoint/2010/main" val="45538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749F-A336-11C3-9A16-9E62A40E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Exploratory 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1DF29-F0A1-AA19-1B35-47140BDC0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Visualization: </a:t>
            </a:r>
          </a:p>
          <a:p>
            <a:pPr marL="0" indent="0">
              <a:buNone/>
            </a:pPr>
            <a:r>
              <a:rPr lang="en-US" dirty="0"/>
              <a:t>Word cloud visualization shows the most repeated words in each document.  </a:t>
            </a:r>
          </a:p>
          <a:p>
            <a:pPr marL="0" indent="0">
              <a:buNone/>
            </a:pPr>
            <a:r>
              <a:rPr lang="en-US" dirty="0"/>
              <a:t>The word which are frequent are bigger in the image compared to the ones which are less frequent.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Preprocessing:</a:t>
            </a:r>
          </a:p>
          <a:p>
            <a:pPr marL="0" indent="0">
              <a:buNone/>
            </a:pPr>
            <a:r>
              <a:rPr lang="en-US" dirty="0"/>
              <a:t>We removed all the highlights from the article and stored them separately to make use of them during evaluation</a:t>
            </a:r>
          </a:p>
        </p:txBody>
      </p:sp>
    </p:spTree>
    <p:extLst>
      <p:ext uri="{BB962C8B-B14F-4D97-AF65-F5344CB8AC3E}">
        <p14:creationId xmlns:p14="http://schemas.microsoft.com/office/powerpoint/2010/main" val="725928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326D-9D41-2183-DF18-88254E4B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Visualization – TF-IDF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71F6-BEAA-3A23-CF3B-DFE26FA5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extracted the top 10 important terms in the article using TD-IDF method.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0B555-69E0-5C9E-62A7-FA70BB7C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411" y="2441469"/>
            <a:ext cx="4780547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61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326D-9D41-2183-DF18-88254E4B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Visualization - Word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71F6-BEAA-3A23-CF3B-DFE26FA5B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created a word cloud of important words in the article.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EB4FA-7646-C791-AFCA-C8200D3E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52" y="2444911"/>
            <a:ext cx="7312685" cy="373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2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37" y="188979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 Import Libraries IMPORT transformers, </a:t>
            </a:r>
            <a:r>
              <a:rPr lang="en-US" b="1" dirty="0" err="1"/>
              <a:t>sklearn's</a:t>
            </a:r>
            <a:r>
              <a:rPr lang="en-US" b="1" dirty="0"/>
              <a:t> TF-IDF </a:t>
            </a:r>
            <a:r>
              <a:rPr lang="en-US" dirty="0"/>
              <a:t>Vectorizer, </a:t>
            </a:r>
            <a:r>
              <a:rPr lang="en-US" dirty="0" err="1"/>
              <a:t>GoogleTranslator</a:t>
            </a:r>
            <a:r>
              <a:rPr lang="en-US" dirty="0"/>
              <a:t>, </a:t>
            </a:r>
            <a:r>
              <a:rPr lang="en-US" dirty="0" err="1"/>
              <a:t>rouge_scorer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2: Load and Preprocess Data </a:t>
            </a:r>
          </a:p>
          <a:p>
            <a:pPr marL="0" indent="0">
              <a:buNone/>
            </a:pPr>
            <a:r>
              <a:rPr lang="en-US" dirty="0"/>
              <a:t>LOAD CNN .story file </a:t>
            </a:r>
          </a:p>
          <a:p>
            <a:pPr marL="0" indent="0">
              <a:buNone/>
            </a:pPr>
            <a:r>
              <a:rPr lang="en-US" dirty="0"/>
              <a:t>CLEAN text by removing markers like "@highlight" </a:t>
            </a:r>
          </a:p>
          <a:p>
            <a:pPr marL="0" indent="0">
              <a:buNone/>
            </a:pPr>
            <a:r>
              <a:rPr lang="en-US" dirty="0"/>
              <a:t>TOKENIZE text into sentences </a:t>
            </a:r>
          </a:p>
          <a:p>
            <a:pPr marL="0" indent="0">
              <a:buNone/>
            </a:pPr>
            <a:r>
              <a:rPr lang="en-US" dirty="0"/>
              <a:t>STORE main article text and reference highlights</a:t>
            </a:r>
          </a:p>
        </p:txBody>
      </p:sp>
    </p:spTree>
    <p:extLst>
      <p:ext uri="{BB962C8B-B14F-4D97-AF65-F5344CB8AC3E}">
        <p14:creationId xmlns:p14="http://schemas.microsoft.com/office/powerpoint/2010/main" val="1371589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 3: Summarization with BART and T5 </a:t>
            </a:r>
          </a:p>
          <a:p>
            <a:pPr marL="0" indent="0">
              <a:buNone/>
            </a:pPr>
            <a:r>
              <a:rPr lang="en-US" dirty="0"/>
              <a:t>SET summarization model (BART or T5) </a:t>
            </a:r>
          </a:p>
          <a:p>
            <a:pPr marL="0" indent="0">
              <a:buNone/>
            </a:pPr>
            <a:r>
              <a:rPr lang="en-US" dirty="0"/>
              <a:t>IF text length &gt; model max input length </a:t>
            </a:r>
          </a:p>
          <a:p>
            <a:pPr marL="0" indent="0">
              <a:buNone/>
            </a:pPr>
            <a:r>
              <a:rPr lang="en-US" dirty="0"/>
              <a:t>	SPLIT text into manageable chunks </a:t>
            </a:r>
          </a:p>
          <a:p>
            <a:pPr marL="0" indent="0">
              <a:buNone/>
            </a:pPr>
            <a:r>
              <a:rPr lang="en-US" dirty="0"/>
              <a:t>FOR each chunk </a:t>
            </a:r>
          </a:p>
          <a:p>
            <a:pPr marL="0" indent="0">
              <a:buNone/>
            </a:pPr>
            <a:r>
              <a:rPr lang="en-US" dirty="0"/>
              <a:t>	GENERATE summary using the chosen model </a:t>
            </a:r>
          </a:p>
          <a:p>
            <a:pPr marL="0" indent="0">
              <a:buNone/>
            </a:pPr>
            <a:r>
              <a:rPr lang="en-US" dirty="0"/>
              <a:t>	CONCATENATE summaries for final output </a:t>
            </a:r>
          </a:p>
          <a:p>
            <a:pPr marL="0" indent="0">
              <a:buNone/>
            </a:pPr>
            <a:r>
              <a:rPr lang="en-US" dirty="0"/>
              <a:t>DISPLAY BART summary as a paragraph </a:t>
            </a:r>
          </a:p>
          <a:p>
            <a:pPr marL="0" indent="0">
              <a:buNone/>
            </a:pPr>
            <a:r>
              <a:rPr lang="en-US" dirty="0"/>
              <a:t>DISPLAY T5 summary as a paragraph</a:t>
            </a:r>
          </a:p>
        </p:txBody>
      </p:sp>
    </p:spTree>
    <p:extLst>
      <p:ext uri="{BB962C8B-B14F-4D97-AF65-F5344CB8AC3E}">
        <p14:creationId xmlns:p14="http://schemas.microsoft.com/office/powerpoint/2010/main" val="1786382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4: Key Points Extraction with TF-IDF </a:t>
            </a:r>
          </a:p>
          <a:p>
            <a:pPr marL="0" indent="0">
              <a:buNone/>
            </a:pPr>
            <a:r>
              <a:rPr lang="en-US" dirty="0"/>
              <a:t>INITIALIZE TF-IDF Vectorizer </a:t>
            </a:r>
          </a:p>
          <a:p>
            <a:pPr marL="0" indent="0">
              <a:buNone/>
            </a:pPr>
            <a:r>
              <a:rPr lang="en-US" dirty="0"/>
              <a:t>FIT vectorizer on article text </a:t>
            </a:r>
          </a:p>
          <a:p>
            <a:pPr marL="0" indent="0">
              <a:buNone/>
            </a:pPr>
            <a:r>
              <a:rPr lang="en-US" dirty="0"/>
              <a:t>FOR each sentence </a:t>
            </a:r>
          </a:p>
          <a:p>
            <a:pPr marL="0" indent="0">
              <a:buNone/>
            </a:pPr>
            <a:r>
              <a:rPr lang="en-US" dirty="0"/>
              <a:t>	CALCULATE importance by summing TF-IDF scores of words </a:t>
            </a:r>
          </a:p>
          <a:p>
            <a:pPr marL="0" indent="0">
              <a:buNone/>
            </a:pPr>
            <a:r>
              <a:rPr lang="en-US" dirty="0"/>
              <a:t>SELECT top N sentences as important points </a:t>
            </a:r>
          </a:p>
          <a:p>
            <a:pPr marL="0" indent="0">
              <a:buNone/>
            </a:pPr>
            <a:r>
              <a:rPr lang="en-US" dirty="0"/>
              <a:t>DISPLAY important points line-by-line</a:t>
            </a:r>
          </a:p>
        </p:txBody>
      </p:sp>
    </p:spTree>
    <p:extLst>
      <p:ext uri="{BB962C8B-B14F-4D97-AF65-F5344CB8AC3E}">
        <p14:creationId xmlns:p14="http://schemas.microsoft.com/office/powerpoint/2010/main" val="1962002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5: Translation </a:t>
            </a:r>
          </a:p>
          <a:p>
            <a:pPr marL="0" indent="0">
              <a:buNone/>
            </a:pPr>
            <a:r>
              <a:rPr lang="en-US" dirty="0"/>
              <a:t>ASK user for desired languages (ISO codes) </a:t>
            </a:r>
          </a:p>
          <a:p>
            <a:pPr marL="0" indent="0">
              <a:buNone/>
            </a:pPr>
            <a:r>
              <a:rPr lang="en-US" dirty="0"/>
              <a:t>FOR each language </a:t>
            </a:r>
          </a:p>
          <a:p>
            <a:pPr marL="0" indent="0">
              <a:buNone/>
            </a:pPr>
            <a:r>
              <a:rPr lang="en-US" dirty="0"/>
              <a:t>	TRANSLATE BART summary, T5 summary, and important                         points </a:t>
            </a:r>
          </a:p>
          <a:p>
            <a:pPr marL="0" indent="0">
              <a:buNone/>
            </a:pPr>
            <a:r>
              <a:rPr lang="en-US" dirty="0"/>
              <a:t>	DISPLAY translations in paragraph format</a:t>
            </a:r>
          </a:p>
        </p:txBody>
      </p:sp>
    </p:spTree>
    <p:extLst>
      <p:ext uri="{BB962C8B-B14F-4D97-AF65-F5344CB8AC3E}">
        <p14:creationId xmlns:p14="http://schemas.microsoft.com/office/powerpoint/2010/main" val="2568762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6: Evaluation with ROUGE Scores </a:t>
            </a:r>
          </a:p>
          <a:p>
            <a:pPr marL="0" indent="0">
              <a:buNone/>
            </a:pPr>
            <a:r>
              <a:rPr lang="en-US" dirty="0"/>
              <a:t>DEFINE </a:t>
            </a:r>
            <a:r>
              <a:rPr lang="en-US" dirty="0" err="1"/>
              <a:t>calculate_rouge</a:t>
            </a:r>
            <a:r>
              <a:rPr lang="en-US" dirty="0"/>
              <a:t>(reference, generated) FUNCTION 	</a:t>
            </a:r>
            <a:r>
              <a:rPr lang="en-US" sz="2400" dirty="0"/>
              <a:t>COMPUTE ROUGE-1, ROUGE-2, ROUGE-L scores using ROUGE scorer </a:t>
            </a:r>
          </a:p>
          <a:p>
            <a:pPr marL="0" indent="0">
              <a:buNone/>
            </a:pPr>
            <a:r>
              <a:rPr lang="en-US" dirty="0"/>
              <a:t>	RETURN scores</a:t>
            </a:r>
          </a:p>
        </p:txBody>
      </p:sp>
    </p:spTree>
    <p:extLst>
      <p:ext uri="{BB962C8B-B14F-4D97-AF65-F5344CB8AC3E}">
        <p14:creationId xmlns:p14="http://schemas.microsoft.com/office/powerpoint/2010/main" val="1219974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82EE-2CDA-9DAD-A3BE-91354990F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</a:t>
            </a:r>
          </a:p>
          <a:p>
            <a:r>
              <a:rPr lang="en-US" dirty="0" err="1"/>
              <a:t>GoogleTranslator</a:t>
            </a:r>
            <a:endParaRPr lang="en-US" dirty="0"/>
          </a:p>
          <a:p>
            <a:r>
              <a:rPr lang="en-US" dirty="0" err="1"/>
              <a:t>Sklearn</a:t>
            </a:r>
            <a:endParaRPr lang="en-US" dirty="0"/>
          </a:p>
          <a:p>
            <a:r>
              <a:rPr lang="en-US" dirty="0" err="1"/>
              <a:t>Rouge_score</a:t>
            </a:r>
            <a:endParaRPr lang="en-US" dirty="0"/>
          </a:p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 err="1"/>
              <a:t>Wordcloud</a:t>
            </a:r>
            <a:endParaRPr lang="en-US" dirty="0"/>
          </a:p>
          <a:p>
            <a:r>
              <a:rPr lang="en-US" dirty="0"/>
              <a:t>Matplotlib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336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FD9D-38EF-D480-87A2-74AC9C0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Implementation - Two Areas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F22892-99D3-EB3D-5D01-80B9B20357F9}"/>
              </a:ext>
            </a:extLst>
          </p:cNvPr>
          <p:cNvSpPr/>
          <p:nvPr/>
        </p:nvSpPr>
        <p:spPr>
          <a:xfrm>
            <a:off x="958515" y="3272591"/>
            <a:ext cx="2518611" cy="18616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News Article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0934F7-0C9B-9613-159C-3D25A730D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3" y="3272591"/>
            <a:ext cx="2518611" cy="18616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Summarization of article 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9D615B1-91D0-BD60-441F-4CDDA06F07DA}"/>
              </a:ext>
            </a:extLst>
          </p:cNvPr>
          <p:cNvSpPr txBox="1">
            <a:spLocks/>
          </p:cNvSpPr>
          <p:nvPr/>
        </p:nvSpPr>
        <p:spPr>
          <a:xfrm>
            <a:off x="8859251" y="3264571"/>
            <a:ext cx="2518611" cy="18616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Translations of article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BA44325-11C8-ABAC-1BCA-4641EF2EC20C}"/>
              </a:ext>
            </a:extLst>
          </p:cNvPr>
          <p:cNvSpPr/>
          <p:nvPr/>
        </p:nvSpPr>
        <p:spPr>
          <a:xfrm>
            <a:off x="3637546" y="4091494"/>
            <a:ext cx="1058779" cy="296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0472410-A3B8-12E7-FAC7-46BA94E160F7}"/>
              </a:ext>
            </a:extLst>
          </p:cNvPr>
          <p:cNvSpPr/>
          <p:nvPr/>
        </p:nvSpPr>
        <p:spPr>
          <a:xfrm>
            <a:off x="7613983" y="4091494"/>
            <a:ext cx="1058779" cy="296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70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391-FA50-9C99-5F19-16539A43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- BART/T5 Summary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EBE9A1-D7AF-42BF-9FD7-A11B0535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2209629"/>
            <a:ext cx="9994231" cy="367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03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391-FA50-9C99-5F19-16539A43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- BART Summary Translation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4B48E1-DE6C-7251-3D26-925CF09F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06" y="1766655"/>
            <a:ext cx="9996783" cy="44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49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391-FA50-9C99-5F19-16539A43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- T5 Summary Translation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89B19-3620-EBD1-45F0-7F5989137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95" y="1957138"/>
            <a:ext cx="9741690" cy="407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97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391-FA50-9C99-5F19-16539A43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-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1FA97-6D35-8A52-7894-47D12624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it seems that for our model BART does a better job than T5.</a:t>
            </a:r>
          </a:p>
          <a:p>
            <a:r>
              <a:rPr lang="en-US" dirty="0"/>
              <a:t>For Rouge-1, the scores are about 0.45 which says that about 45% of words match with reference unigram words.</a:t>
            </a:r>
          </a:p>
          <a:p>
            <a:r>
              <a:rPr lang="en-US" dirty="0"/>
              <a:t>For Rouge-2, the scores  are about 0.17, which says that BART has captured less bigram structure from the reference.</a:t>
            </a:r>
          </a:p>
          <a:p>
            <a:r>
              <a:rPr lang="en-US" dirty="0"/>
              <a:t>For Rouge-L, the scores are also moderate around 0.25, showing that BART captured some structural similarity with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27542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391-FA50-9C99-5F19-16539A43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 - Evaluation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EFEE27-7A75-F5BE-3593-7CF8CA79E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674" y="1809850"/>
            <a:ext cx="10154652" cy="3788845"/>
          </a:xfrm>
        </p:spPr>
      </p:pic>
    </p:spTree>
    <p:extLst>
      <p:ext uri="{BB962C8B-B14F-4D97-AF65-F5344CB8AC3E}">
        <p14:creationId xmlns:p14="http://schemas.microsoft.com/office/powerpoint/2010/main" val="403096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170D-054A-6773-351E-D389E30A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B3CD-A800-8F46-65E7-1BA7B95B8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Work Completed: </a:t>
            </a:r>
          </a:p>
          <a:p>
            <a:pPr marL="0" indent="0">
              <a:buNone/>
            </a:pPr>
            <a:r>
              <a:rPr lang="en-US" dirty="0"/>
              <a:t>We have successfully implemented Summarization and Translation as stated.</a:t>
            </a:r>
          </a:p>
          <a:p>
            <a:pPr marL="0" indent="0">
              <a:buNone/>
            </a:pPr>
            <a:r>
              <a:rPr lang="en-US" b="1" dirty="0"/>
              <a:t>Responsibilities:</a:t>
            </a:r>
          </a:p>
          <a:p>
            <a:pPr marL="0" indent="0">
              <a:buNone/>
            </a:pPr>
            <a:r>
              <a:rPr lang="en-US" dirty="0"/>
              <a:t>	Preprocessing, BART           -          Lokesh     -       25%</a:t>
            </a:r>
          </a:p>
          <a:p>
            <a:pPr marL="0" indent="0">
              <a:buNone/>
            </a:pPr>
            <a:r>
              <a:rPr lang="en-US" dirty="0"/>
              <a:t>	TF-IDF, Word cloud, T5       -          Nikhil        -       25%</a:t>
            </a:r>
          </a:p>
          <a:p>
            <a:pPr marL="0" indent="0">
              <a:buNone/>
            </a:pPr>
            <a:r>
              <a:rPr lang="en-US" dirty="0"/>
              <a:t>	Translations                             -          Puneet     -       25%</a:t>
            </a:r>
          </a:p>
          <a:p>
            <a:pPr marL="0" indent="0">
              <a:buNone/>
            </a:pPr>
            <a:r>
              <a:rPr lang="en-US" dirty="0"/>
              <a:t>	Rouge Metrics                         -         </a:t>
            </a:r>
            <a:r>
              <a:rPr lang="en-US" dirty="0" err="1"/>
              <a:t>Srilekha</a:t>
            </a:r>
            <a:r>
              <a:rPr lang="en-US" dirty="0"/>
              <a:t>    -      25%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3885799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170D-054A-6773-351E-D389E30A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B3CD-A800-8F46-65E7-1BA7B95B8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Issues we faced:</a:t>
            </a:r>
          </a:p>
          <a:p>
            <a:r>
              <a:rPr lang="en-US" dirty="0"/>
              <a:t>BART and T5 models gave a lot of input size and output size errors.</a:t>
            </a:r>
          </a:p>
          <a:p>
            <a:r>
              <a:rPr lang="en-US" dirty="0"/>
              <a:t>we fixed them by making chunks of the input text and then sending chunks of data to the models.</a:t>
            </a:r>
          </a:p>
          <a:p>
            <a:r>
              <a:rPr lang="en-US" dirty="0"/>
              <a:t>We could not find a way to evaluate models as there is no human summaries for all 90k stories.</a:t>
            </a:r>
          </a:p>
          <a:p>
            <a:r>
              <a:rPr lang="en-US" dirty="0"/>
              <a:t>The solution we produced was to use the highlight sentences as a baseline/reference for getting Rouge metrics. </a:t>
            </a:r>
          </a:p>
          <a:p>
            <a:pPr marL="0" indent="0">
              <a:buNone/>
            </a:pPr>
            <a:r>
              <a:rPr lang="en-US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2849577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3C3A-6FB1-A28B-8438-74193DD0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3BE6D-A8A0-997B-3F2C-C27BEF14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M. </a:t>
            </a:r>
            <a:r>
              <a:rPr lang="en-US" dirty="0" err="1"/>
              <a:t>Asmitha</a:t>
            </a:r>
            <a:r>
              <a:rPr lang="en-US" dirty="0"/>
              <a:t>, C. R. Kavitha and D. Radha, "Summarizing News: Unleashing the Power of BART, GPT-2, T5, and Pegasus Models in Text Summarization," 2024 4th International Conference on Intelligent Technologies (CONIT), Bangalore, India, 2024, pp. 1-6, </a:t>
            </a:r>
            <a:r>
              <a:rPr lang="en-US" dirty="0" err="1"/>
              <a:t>doi</a:t>
            </a:r>
            <a:r>
              <a:rPr lang="en-US" dirty="0"/>
              <a:t>: 10.1109/CONIT61985.2024.10626617. </a:t>
            </a:r>
          </a:p>
          <a:p>
            <a:r>
              <a:rPr lang="en-US" dirty="0">
                <a:hlinkClick r:id="rId2"/>
              </a:rPr>
              <a:t>https://pypi.org/project/deep-translator/</a:t>
            </a:r>
            <a:endParaRPr lang="en-US" dirty="0"/>
          </a:p>
          <a:p>
            <a:r>
              <a:rPr lang="en-US" dirty="0">
                <a:hlinkClick r:id="rId3"/>
              </a:rPr>
              <a:t>https://www.geeksforgeeks.org/understanding-tf-idf-term-frequency-inverse-document-frequency/</a:t>
            </a:r>
            <a:endParaRPr lang="en-US" dirty="0"/>
          </a:p>
          <a:p>
            <a:r>
              <a:rPr lang="en-US" dirty="0">
                <a:hlinkClick r:id="rId4"/>
              </a:rPr>
              <a:t>https://www.freecodecamp.org/news/what-is-rouge-and-how-it-works-for-evaluation-of-summaries-e059fb8ac840/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2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1149</Words>
  <Application>Microsoft Office PowerPoint</Application>
  <PresentationFormat>Widescreen</PresentationFormat>
  <Paragraphs>128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News Articles Summarization and Translation Group 8 </vt:lpstr>
      <vt:lpstr>Introduction</vt:lpstr>
      <vt:lpstr>Problem Statement </vt:lpstr>
      <vt:lpstr>Methodology</vt:lpstr>
      <vt:lpstr>Workflow - Data Preprocessing</vt:lpstr>
      <vt:lpstr>Workflow - Summarization</vt:lpstr>
      <vt:lpstr>Workflow - Important Points </vt:lpstr>
      <vt:lpstr>Workflow - Translation</vt:lpstr>
      <vt:lpstr>Dataset Description</vt:lpstr>
      <vt:lpstr>Sample Dataset Picture</vt:lpstr>
      <vt:lpstr>Exploratory Data Analysis </vt:lpstr>
      <vt:lpstr>Visualization – TF-IDF values</vt:lpstr>
      <vt:lpstr>Visualization - Word Cloud</vt:lpstr>
      <vt:lpstr>Implementation - Pseudocode</vt:lpstr>
      <vt:lpstr>Implementation - Pseudocode</vt:lpstr>
      <vt:lpstr>Implementation - Pseudocode</vt:lpstr>
      <vt:lpstr>Implementation - Pseudocode</vt:lpstr>
      <vt:lpstr>Implementation - Pseudocode</vt:lpstr>
      <vt:lpstr>Implementation - Libraries Used</vt:lpstr>
      <vt:lpstr>Implementation - Two Areas</vt:lpstr>
      <vt:lpstr>Results - BART/T5 Summary</vt:lpstr>
      <vt:lpstr>Results - BART Summary Translation</vt:lpstr>
      <vt:lpstr>Results - T5 Summary Translation</vt:lpstr>
      <vt:lpstr>Results - Evaluation</vt:lpstr>
      <vt:lpstr>Results - Evaluation Metrics</vt:lpstr>
      <vt:lpstr>Project Management</vt:lpstr>
      <vt:lpstr>Project Management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Kuchipudi, Nikhil</dc:creator>
  <cp:lastModifiedBy>Kuchipudi, Nikhil</cp:lastModifiedBy>
  <cp:revision>12</cp:revision>
  <dcterms:created xsi:type="dcterms:W3CDTF">2024-11-07T19:42:37Z</dcterms:created>
  <dcterms:modified xsi:type="dcterms:W3CDTF">2024-11-08T05:22:04Z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276c875-7768-4967-88eb-c66a74d102ac_Enabled">
    <vt:lpwstr>true</vt:lpwstr>
  </property>
  <property fmtid="{D5CDD505-2E9C-101B-9397-08002B2CF9AE}" pid="3" name="MSIP_Label_6276c875-7768-4967-88eb-c66a74d102ac_SetDate">
    <vt:lpwstr>2024-11-07T19:51:37Z</vt:lpwstr>
  </property>
  <property fmtid="{D5CDD505-2E9C-101B-9397-08002B2CF9AE}" pid="4" name="MSIP_Label_6276c875-7768-4967-88eb-c66a74d102ac_Method">
    <vt:lpwstr>Privileged</vt:lpwstr>
  </property>
  <property fmtid="{D5CDD505-2E9C-101B-9397-08002B2CF9AE}" pid="5" name="MSIP_Label_6276c875-7768-4967-88eb-c66a74d102ac_Name">
    <vt:lpwstr>Public-HSC</vt:lpwstr>
  </property>
  <property fmtid="{D5CDD505-2E9C-101B-9397-08002B2CF9AE}" pid="6" name="MSIP_Label_6276c875-7768-4967-88eb-c66a74d102ac_SiteId">
    <vt:lpwstr>70de1992-07c6-480f-a318-a1afcba03983</vt:lpwstr>
  </property>
  <property fmtid="{D5CDD505-2E9C-101B-9397-08002B2CF9AE}" pid="7" name="MSIP_Label_6276c875-7768-4967-88eb-c66a74d102ac_ActionId">
    <vt:lpwstr>fa68b3c0-3919-4085-beed-17ec5db56170</vt:lpwstr>
  </property>
  <property fmtid="{D5CDD505-2E9C-101B-9397-08002B2CF9AE}" pid="8" name="MSIP_Label_6276c875-7768-4967-88eb-c66a74d102ac_ContentBits">
    <vt:lpwstr>0</vt:lpwstr>
  </property>
</Properties>
</file>